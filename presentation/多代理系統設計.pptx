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專利分析與科技預測</a:t>
            </a:r>
          </a:p>
          <a:p>
            <a:pPr algn="ctr">
              <a:defRPr sz="4800" b="1">
                <a:solidFill>
                  <a:srgbClr val="FFFFFF"/>
                </a:solidFill>
              </a:defRPr>
            </a:pPr>
            <a:r>
              <a:t>多代理系統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16A085"/>
                </a:solidFill>
              </a:defRPr>
            </a:pPr>
            <a:r>
              <a:t>MCP × Skills × Cowork 架構設計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BDC3C7"/>
                </a:solidFill>
              </a:defRPr>
            </a:pPr>
            <a:r>
              <a:t>基於企業級 AI 多代理協作框架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系統概述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A085"/>
                </a:solidFill>
              </a:defRPr>
            </a:pPr>
            <a:r>
              <a:t>核心目標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749807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>
                <a:solidFill>
                  <a:srgbClr val="2D3748"/>
                </a:solidFill>
              </a:defRPr>
            </a:pPr>
            <a:r>
              <a:t>專利技術趨勢分析 - 識別技術演進軌跡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學術前沿追蹤 - 預測研究熱點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政策決策支援 - 結合 GRB 數據提供建議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知識圖譜構建 - 跨領域技術關聯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6A085"/>
                </a:solidFill>
              </a:defRPr>
            </a:pPr>
            <a:r>
              <a:t>設計原則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1480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>
                <a:solidFill>
                  <a:srgbClr val="2D3748"/>
                </a:solidFill>
              </a:defRPr>
            </a:pPr>
            <a:r>
              <a:t>模組化解耦 - MCP 統一數據，Skills 原子化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可擴展性 - Agent 與 Skills 可動態增減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可審計性 - 決策過程可追溯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三層架構設計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554480"/>
            <a:ext cx="7772400" cy="1005840"/>
          </a:xfrm>
          <a:prstGeom prst="rect">
            <a:avLst/>
          </a:prstGeom>
          <a:solidFill>
            <a:srgbClr val="F7F9FC"/>
          </a:solidFill>
          <a:ln w="635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91639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Cowork Layer 協作層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11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Planner → Research → Analysis → Reviewer → Writer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926080"/>
            <a:ext cx="7772400" cy="1005840"/>
          </a:xfrm>
          <a:prstGeom prst="rect">
            <a:avLst/>
          </a:prstGeom>
          <a:solidFill>
            <a:srgbClr val="F7F9FC"/>
          </a:solidFill>
          <a:ln w="635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Skills Layer 技能層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83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聚類 | 引用分析 | 趨勢預測 | 詞頻分析 | 可視化...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297680"/>
            <a:ext cx="7772400" cy="1005840"/>
          </a:xfrm>
          <a:prstGeom prst="rect">
            <a:avLst/>
          </a:prstGeom>
          <a:solidFill>
            <a:srgbClr val="F7F9FC"/>
          </a:solidFill>
          <a:ln w="635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4348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MCP Layer 數據接入層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Patent DB | Academic Papers | GRB Database | News APIs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MCP Layer 數據接入層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標準化協議統一多源異構數據訪問，內建快取、重試與權限控制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Patent MCP - 專利數據庫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3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USPTO、EPO、CNIPA、WIPO - 專利全文、引用網絡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7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Academic MCP - 學術論文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39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PubMed、arXiv、IEEE Xplore - 論文、作者網絡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49039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GRB MCP - 政府研究預算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2335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研究項目資助、科技政策文檔、預算分配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5720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News MCP - 科技新聞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NewsAPI、Google News - 產業動態、市場趨勢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Skills Layer 技能層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可重用、可測試、可編排的原子級與組合級能力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3657600" cy="914400"/>
          </a:xfrm>
          <a:prstGeom prst="rect">
            <a:avLst/>
          </a:prstGeom>
          <a:solidFill>
            <a:srgbClr val="F7F9FC"/>
          </a:solidFill>
          <a:ln w="508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PatentClusteringSkill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專利技術聚類分析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103120"/>
            <a:ext cx="3657600" cy="914400"/>
          </a:xfrm>
          <a:prstGeom prst="rect">
            <a:avLst/>
          </a:prstGeom>
          <a:solidFill>
            <a:srgbClr val="F7F9FC"/>
          </a:solidFill>
          <a:ln w="508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228600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CitationBurstDetectionSkill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256032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突發引用技術檢測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200400"/>
            <a:ext cx="3657600" cy="914400"/>
          </a:xfrm>
          <a:prstGeom prst="rect">
            <a:avLst/>
          </a:prstGeom>
          <a:solidFill>
            <a:srgbClr val="F7F9FC"/>
          </a:solidFill>
          <a:ln w="508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TrendForecastingSkill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技術趨勢預測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3200400"/>
            <a:ext cx="3657600" cy="914400"/>
          </a:xfrm>
          <a:prstGeom prst="rect">
            <a:avLst/>
          </a:prstGeom>
          <a:solidFill>
            <a:srgbClr val="F7F9FC"/>
          </a:solidFill>
          <a:ln w="508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46320" y="3383280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CrossDomainMappingSkill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36576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跨領域技術關聯分析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97679"/>
            <a:ext cx="3657600" cy="914400"/>
          </a:xfrm>
          <a:prstGeom prst="rect">
            <a:avLst/>
          </a:prstGeom>
          <a:solidFill>
            <a:srgbClr val="F7F9FC"/>
          </a:solidFill>
          <a:ln w="508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5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WordFrequencySkill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詞頻與共現網絡分析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63440" y="4297679"/>
            <a:ext cx="3657600" cy="914400"/>
          </a:xfrm>
          <a:prstGeom prst="rect">
            <a:avLst/>
          </a:prstGeom>
          <a:solidFill>
            <a:srgbClr val="F7F9FC"/>
          </a:solidFill>
          <a:ln w="508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46320" y="4480559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C3E50"/>
                </a:solidFill>
              </a:defRPr>
            </a:pPr>
            <a:r>
              <a:t>BiasDetectionSkill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4754879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55555"/>
                </a:solidFill>
              </a:defRPr>
            </a:pPr>
            <a:r>
              <a:t>數據偏差檢測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Cowork Layer 協作層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2D3748"/>
                </a:solidFill>
              </a:defRPr>
            </a:pPr>
            <a:r>
              <a:t>多 Agent 角色分工與協作機制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7772400" cy="7315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C3E50"/>
                </a:solidFill>
              </a:defRPr>
            </a:pPr>
            <a:r>
              <a:t>Planner → Research → Analysis → Reviewer → Writer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C3E50"/>
                </a:solidFill>
              </a:defRPr>
            </a:pPr>
            <a:r>
              <a:t>協作特點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500">
                <a:solidFill>
                  <a:srgbClr val="2D3748"/>
                </a:solidFill>
              </a:defRPr>
            </a:pPr>
            <a:r>
              <a:t>基於消息傳遞的非同步通信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任務分解與依賴管理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質量控制與迭代優化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可追溯的決策過程</a:t>
            </a:r>
          </a:p>
          <a:p>
            <a:pPr>
              <a:spcBef>
                <a:spcPts val="600"/>
              </a:spcBef>
              <a:defRPr sz="1500">
                <a:solidFill>
                  <a:srgbClr val="2D3748"/>
                </a:solidFill>
              </a:defRPr>
            </a:pPr>
            <a:r>
              <a:t>Agent 間協商與反饋機制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核心 Agent 角色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Planner Agent 規劃者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任務分解、依賴圖構建、資源估算、進度監控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Research Agent 研究者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60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MCP 數據獲取、數據清洗、質量驗證、數據集構建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089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Analysis Agent 分析者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調用 Skills 進行聚類、引用分析、趨勢預測、網絡分析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9319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Reviewer Agent 審查者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方法論驗證、偏差檢測、可信度評估、質量控制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548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Writer Agent 撰寫者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292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政策敘事、報告生成、可視化、演示文稿製作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實施路線圖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63040"/>
            <a:ext cx="7772400" cy="914400"/>
          </a:xfrm>
          <a:prstGeom prst="rect">
            <a:avLst/>
          </a:prstGeom>
          <a:solidFill>
            <a:srgbClr val="F7F9FC"/>
          </a:solidFill>
          <a:ln w="635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3E50"/>
                </a:solidFill>
              </a:defRPr>
            </a:pPr>
            <a:r>
              <a:t>Phase 1：基礎設施（1-2 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MCP 協議層實現、Patent 與 Academic MCP 接口、核心 Skills 開發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7772400" cy="914400"/>
          </a:xfrm>
          <a:prstGeom prst="rect">
            <a:avLst/>
          </a:prstGeom>
          <a:solidFill>
            <a:srgbClr val="F7F9FC"/>
          </a:solidFill>
          <a:ln w="635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3E50"/>
                </a:solidFill>
              </a:defRPr>
            </a:pPr>
            <a:r>
              <a:t>Phase 2：Agent 開發（2-3 月）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Planner、Research、Analysis Agent 實現、Agent 通信協議、簡單協作流程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49039"/>
            <a:ext cx="7772400" cy="914400"/>
          </a:xfrm>
          <a:prstGeom prst="rect">
            <a:avLst/>
          </a:prstGeom>
          <a:solidFill>
            <a:srgbClr val="F7F9FC"/>
          </a:solidFill>
          <a:ln w="635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3886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3E50"/>
                </a:solidFill>
              </a:defRPr>
            </a:pPr>
            <a:r>
              <a:t>Phase 3：質量與輸出（1-2 月）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Reviewer Agent、Writer Agent、pptx skill 集成、評估指標體系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7772400" cy="914400"/>
          </a:xfrm>
          <a:prstGeom prst="rect">
            <a:avLst/>
          </a:prstGeom>
          <a:solidFill>
            <a:srgbClr val="F7F9FC"/>
          </a:solidFill>
          <a:ln w="635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02920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2C3E50"/>
                </a:solidFill>
              </a:defRPr>
            </a:pPr>
            <a:r>
              <a:t>Phase 4：驗證與優化（持續）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3492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55555"/>
                </a:solidFill>
              </a:defRPr>
            </a:pPr>
            <a:r>
              <a:t>真實案例驗證、算法優化、數據源擴展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t>技術棧建議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Agent 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LangGraph / AutoGen / CrewAI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9456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MCP 實現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Anthropic MCP SDK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Skills 封裝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004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Python (FastAPI) + Node.js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NLP 與分析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9319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multilingual-e5-large, GPT-4, scikit-learn, NetworkX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8912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數據與基礎設施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663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PostgreSQL, Neo4j, RabbitMQ / Kafka, Docker, Kubernetes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6A085"/>
                </a:solidFill>
              </a:defRPr>
            </a:pPr>
            <a:r>
              <a:t>可視化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94959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2D3748"/>
                </a:solidFill>
              </a:defRPr>
            </a:pPr>
            <a:r>
              <a:t>Plotly, D3.js, pptx skill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下一步行動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A085"/>
                </a:solidFill>
              </a:defRPr>
            </a:pPr>
            <a:r>
              <a:t>立即開始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FFFFFF"/>
                </a:solidFill>
              </a:defRPr>
            </a:pPr>
            <a:r>
              <a:t>閱讀完整設計文檔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</a:defRPr>
            </a:pPr>
            <a:r>
              <a:t>運行 Agent 協作示例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</a:defRPr>
            </a:pPr>
            <a:r>
              <a:t>選擇技術棧並搭建環境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A085"/>
                </a:solidFill>
              </a:defRPr>
            </a:pPr>
            <a:r>
              <a:t>Phase 1 目標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1148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700">
                <a:solidFill>
                  <a:srgbClr val="FFFFFF"/>
                </a:solidFill>
              </a:defRPr>
            </a:pPr>
            <a:r>
              <a:t>實現 MCP 協議層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</a:defRPr>
            </a:pPr>
            <a:r>
              <a:t>開發核心 Skills（聚類、引用分析）</a:t>
            </a:r>
          </a:p>
          <a:p>
            <a:pPr>
              <a:spcBef>
                <a:spcPts val="800"/>
              </a:spcBef>
              <a:defRPr sz="1700">
                <a:solidFill>
                  <a:srgbClr val="FFFFFF"/>
                </a:solidFill>
              </a:defRPr>
            </a:pPr>
            <a:r>
              <a:t>建立第一個工作流程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7607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16A085"/>
                </a:solidFill>
              </a:defRPr>
            </a:pPr>
            <a:r>
              <a:t>企業級 AI 多代理系統 · 智慧決策支援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